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5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F0F8"/>
                </a:solidFill>
              </a:rPr>
              <a:t>Agentic AI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AB4E8"/>
                </a:solidFill>
              </a:rPr>
              <a:t>From Concept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A9AB8"/>
                </a:solidFill>
              </a:rPr>
              <a:t>Architecture · Frameworks · Real-World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97480"/>
            <a:ext cx="5943600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B4E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8"/>
                </a:solidFill>
              </a:rPr>
              <a:t>What is an Agentic System?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75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B4E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75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8"/>
                </a:solidFill>
              </a:rPr>
              <a:t>Development of Agentic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513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B4E8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1513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8"/>
                </a:solidFill>
              </a:rPr>
              <a:t>What Agentic Systems Enable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2686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B4E8"/>
                </a:solidFill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6268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8"/>
                </a:solidFill>
              </a:rPr>
              <a:t>Enabling Technologies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02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B4E8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1023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8"/>
                </a:solidFill>
              </a:rPr>
              <a:t>How to Plug In This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B4E8"/>
                </a:solidFill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577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F0F8"/>
                </a:solidFill>
              </a:rPr>
              <a:t>Use Case: Semantic Kernel in Practice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0" y="731520"/>
            <a:ext cx="4206240" cy="5303520"/>
          </a:xfrm>
          <a:prstGeom prst="rect">
            <a:avLst/>
          </a:prstGeom>
          <a:solidFill>
            <a:srgbClr val="111827"/>
          </a:solidFill>
          <a:ln w="9525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KEY THEMES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417320"/>
            <a:ext cx="3657600" cy="658368"/>
          </a:xfrm>
          <a:prstGeom prst="rect">
            <a:avLst/>
          </a:prstGeom>
          <a:solidFill>
            <a:srgbClr val="0F1420"/>
          </a:solidFill>
          <a:ln w="190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55448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8"/>
                </a:solidFill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5819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B4E8"/>
                </a:solidFill>
              </a:rPr>
              <a:t>Autonomous Reasoning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2194560"/>
            <a:ext cx="3657600" cy="658368"/>
          </a:xfrm>
          <a:prstGeom prst="rect">
            <a:avLst/>
          </a:prstGeom>
          <a:solidFill>
            <a:srgbClr val="0F142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3317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8"/>
                </a:solidFill>
              </a:rPr>
              <a:t>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3591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Tool-Using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2971800"/>
            <a:ext cx="3657600" cy="658368"/>
          </a:xfrm>
          <a:prstGeom prst="rect">
            <a:avLst/>
          </a:prstGeom>
          <a:solidFill>
            <a:srgbClr val="0F1420"/>
          </a:solidFill>
          <a:ln w="1905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310896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8"/>
                </a:solidFill>
              </a:rP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363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830"/>
                </a:solidFill>
              </a:rPr>
              <a:t>Closed-Loop Orchestration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9" y="3749040"/>
            <a:ext cx="3657600" cy="658368"/>
          </a:xfrm>
          <a:prstGeom prst="rect">
            <a:avLst/>
          </a:prstGeom>
          <a:solidFill>
            <a:srgbClr val="0F142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8862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8"/>
                </a:solidFill>
              </a:rPr>
              <a:t>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</a:rPr>
              <a:t>Production Integration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4526280"/>
            <a:ext cx="3657600" cy="658368"/>
          </a:xfrm>
          <a:prstGeom prst="rect">
            <a:avLst/>
          </a:prstGeom>
          <a:solidFill>
            <a:srgbClr val="0F1420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46634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F0F8"/>
                </a:solidFill>
              </a:rPr>
              <a:t>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69087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C9C"/>
                </a:solidFill>
              </a:rPr>
              <a:t>Real-Time Decision Making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01 · WHAT IS AN AGENTIC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8"/>
                </a:solidFill>
              </a:rPr>
              <a:t>An Agent that Perceives, Reasons, Acts — and Learns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A9AB8"/>
                </a:solidFill>
              </a:rPr>
              <a:t>An agentic system is an AI that autonomously pursues goals by interacting with its environment through tools and feedback loops.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2697480" cy="1965960"/>
          </a:xfrm>
          <a:prstGeom prst="rect">
            <a:avLst/>
          </a:prstGeom>
          <a:solidFill>
            <a:srgbClr val="0F1420"/>
          </a:solidFill>
          <a:ln w="2540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B4E8"/>
                </a:solidFill>
              </a:rPr>
              <a:t>PERCEIVE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01952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Reads structured &amp; unstructured inputs: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APIs, sensors, databases, documents, user messages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508760"/>
            <a:ext cx="2697480" cy="1965960"/>
          </a:xfrm>
          <a:prstGeom prst="rect">
            <a:avLst/>
          </a:prstGeom>
          <a:solidFill>
            <a:srgbClr val="0F142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72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01952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Applies LLM-grade chain-of-thought: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decomposes goals, selects tools, plans sub-steps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2697480" cy="1965960"/>
          </a:xfrm>
          <a:prstGeom prst="rect">
            <a:avLst/>
          </a:prstGeom>
          <a:solidFill>
            <a:srgbClr val="0F1420"/>
          </a:solidFill>
          <a:ln w="2540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72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830"/>
                </a:solidFill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01952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Calls external tools &amp; APIs: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writes code, queries DBs, moves files, sends alerts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508760"/>
            <a:ext cx="2697480" cy="1965960"/>
          </a:xfrm>
          <a:prstGeom prst="rect">
            <a:avLst/>
          </a:prstGeom>
          <a:solidFill>
            <a:srgbClr val="0F1420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5727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LEARN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01952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Updates context from results: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reflects on outcomes, adapts strategy, escalates if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2860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2860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2860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11247120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VS. TRADITIONAL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5486400" cy="2468880"/>
          </a:xfrm>
          <a:prstGeom prst="rect">
            <a:avLst/>
          </a:prstGeom>
          <a:solidFill>
            <a:srgbClr val="111827"/>
          </a:solidFill>
          <a:ln w="15240">
            <a:solidFill>
              <a:srgbClr val="7A9A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14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A9AB8"/>
                </a:solidFill>
              </a:rPr>
              <a:t>Traditional ML /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·  Fixed input → output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46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·  Requires explicit feature engineering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212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·  No environment interaction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577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·  Batch or synchronous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943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·  Human decides next step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023360"/>
            <a:ext cx="5486400" cy="2468880"/>
          </a:xfrm>
          <a:prstGeom prst="rect">
            <a:avLst/>
          </a:prstGeom>
          <a:solidFill>
            <a:srgbClr val="111827"/>
          </a:solidFill>
          <a:ln w="1524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4114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B4E8"/>
                </a:solidFill>
              </a:rPr>
              <a:t>Agentic AI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✓  Dynamic goal decomposition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8463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✓  Self-directed tool selection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52120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✓  Multi-step environment interaction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55778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✓  Continuous feedback 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943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✓  Agent decides AND executes next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0A830"/>
                </a:solidFill>
              </a:rPr>
              <a:t>02 · DEVELOPMENT OF AGENTIC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8"/>
                </a:solidFill>
              </a:rPr>
              <a:t>Four Decades of Progress — One Paradigm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606040" cy="2926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612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D14"/>
                </a:solidFill>
              </a:rPr>
              <a:t>1980s–2000s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26060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Rule-Based</a:t>
            </a:r>
          </a:p>
          <a:p>
            <a:pPr algn="l"/>
            <a:r>
              <a:rPr sz="1400" b="1" i="0">
                <a:solidFill>
                  <a:srgbClr val="E74C3C"/>
                </a:solidFill>
              </a:rPr>
              <a:t>Experts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Hand-crafted if/else decision trees.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Expert systems like MYCIN.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Brittle: any rule gap = failure.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6A9C"/>
                </a:solidFill>
              </a:rPr>
              <a:t>KEY EXAMPLES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31920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4C3C"/>
                </a:solidFill>
              </a:rPr>
              <a:t>MYCIN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79392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4C3C"/>
                </a:solidFill>
              </a:rPr>
              <a:t>CLIPS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26864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6451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4C3C"/>
                </a:solidFill>
              </a:rPr>
              <a:t>Prolog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974336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992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74C3C"/>
                </a:solidFill>
              </a:rPr>
              <a:t>Decision Trees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143000"/>
            <a:ext cx="2606040" cy="2926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1612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D14"/>
                </a:solidFill>
              </a:rPr>
              <a:t>2010–2020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1463040"/>
            <a:ext cx="26060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Statistical</a:t>
            </a:r>
          </a:p>
          <a:p>
            <a:pPr algn="l"/>
            <a:r>
              <a:rPr sz="1400" b="1" i="0">
                <a:solidFill>
                  <a:srgbClr val="F39C12"/>
                </a:solidFill>
              </a:rPr>
              <a:t>ML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Learned policies from labelled data.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Deep RL (AlphaGo, Atari).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Needs massive training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6A9C"/>
                </a:solidFill>
              </a:rPr>
              <a:t>KEY EXAMPLES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3931920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9502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DQN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4279392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4297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PPO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4626864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6451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A3C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4974336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4992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AlphaGo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5321808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3400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39C12"/>
                </a:solidFill>
              </a:rPr>
              <a:t>OpenAI Five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143000"/>
            <a:ext cx="2606040" cy="292608"/>
          </a:xfrm>
          <a:prstGeom prst="rect">
            <a:avLst/>
          </a:prstGeom>
          <a:solidFill>
            <a:srgbClr val="5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11612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D14"/>
                </a:solidFill>
              </a:rPr>
              <a:t>2020–2023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463040"/>
            <a:ext cx="26060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AB4E8"/>
                </a:solidFill>
              </a:rPr>
              <a:t>LLM-Powered</a:t>
            </a:r>
          </a:p>
          <a:p>
            <a:pPr algn="l"/>
            <a:r>
              <a:rPr sz="1400" b="1" i="0">
                <a:solidFill>
                  <a:srgbClr val="5AB4E8"/>
                </a:solidFill>
              </a:rPr>
              <a:t>Assistants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GPT-3/4 enable few-shot reasoning.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ChatGPT shifts public expectation.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Still single-turn, no tool use.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6A9C"/>
                </a:solidFill>
              </a:rPr>
              <a:t>KEY EXAMPLES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3931920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9502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B4E8"/>
                </a:solidFill>
              </a:rPr>
              <a:t>GPT-3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4279392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4297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B4E8"/>
                </a:solidFill>
              </a:rPr>
              <a:t>ChatGPT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626864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46451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B4E8"/>
                </a:solidFill>
              </a:rPr>
              <a:t>Claude 1/2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974336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992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B4E8"/>
                </a:solidFill>
              </a:rPr>
              <a:t>PaLM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1143000"/>
            <a:ext cx="260604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1161288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D14"/>
                </a:solidFill>
              </a:rPr>
              <a:t>2023–Now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1463040"/>
            <a:ext cx="2606040" cy="4389120"/>
          </a:xfrm>
          <a:prstGeom prst="rect">
            <a:avLst/>
          </a:prstGeom>
          <a:solidFill>
            <a:srgbClr val="11182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1160" y="15544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Agentic</a:t>
            </a:r>
          </a:p>
          <a:p>
            <a:pPr algn="l"/>
            <a:r>
              <a:rPr sz="1400" b="1" i="0">
                <a:solidFill>
                  <a:srgbClr val="27AE60"/>
                </a:solidFill>
              </a:rPr>
              <a:t>Orchestration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2194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Tool-calling + multi-step planning.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Frameworks abstract orchestration.</a:t>
            </a:r>
          </a:p>
          <a:p>
            <a:pPr algn="l"/>
            <a:r>
              <a:rPr sz="1000" b="0" i="0">
                <a:solidFill>
                  <a:srgbClr val="7A9AB8"/>
                </a:solidFill>
              </a:rPr>
              <a:t>Closed-loop production systems.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81160" y="3657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4A6A9C"/>
                </a:solidFill>
              </a:rPr>
              <a:t>KEY EXAMPLES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3931920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72600" y="39502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</a:rPr>
              <a:t>GPT-4 Tools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4279392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42976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</a:rPr>
              <a:t>Claude 3/4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81160" y="4626864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72600" y="464515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</a:rPr>
              <a:t>Semantic Kernel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81160" y="4974336"/>
            <a:ext cx="2331720" cy="274320"/>
          </a:xfrm>
          <a:prstGeom prst="rect">
            <a:avLst/>
          </a:prstGeom>
          <a:solidFill>
            <a:srgbClr val="0F142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499262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7AE60"/>
                </a:solidFill>
              </a:rPr>
              <a:t>LangGraph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126480"/>
            <a:ext cx="11430000" cy="457200"/>
          </a:xfrm>
          <a:prstGeom prst="rect">
            <a:avLst/>
          </a:prstGeom>
          <a:solidFill>
            <a:srgbClr val="3A2808"/>
          </a:solidFill>
          <a:ln w="1270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615391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830"/>
                </a:solidFill>
              </a:rPr>
              <a:t>Key insight: </a:t>
            </a:r>
            <a:r>
              <a:rPr sz="1100" b="0" i="0">
                <a:solidFill>
                  <a:srgbClr val="E8F0F8"/>
                </a:solidFill>
              </a:rPr>
              <a:t>Each era didn't replace the last — agentic systems </a:t>
            </a:r>
            <a:r>
              <a:rPr sz="1100" b="1" i="0">
                <a:solidFill>
                  <a:srgbClr val="E8F0F8"/>
                </a:solidFill>
              </a:rPr>
              <a:t>incorporate</a:t>
            </a:r>
            <a:r>
              <a:rPr sz="1100" b="0" i="0">
                <a:solidFill>
                  <a:srgbClr val="E8F0F8"/>
                </a:solidFill>
              </a:rPr>
              <a:t> ML, rules, and LLMs as composable layers inside an orchestration framework.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7AE60"/>
                </a:solidFill>
              </a:rPr>
              <a:t>03 · WHAT AGENTIC SYSTEMS ENABLE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8"/>
                </a:solidFill>
              </a:rPr>
              <a:t>Capabilities Unlocked Beyond Traditional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749039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8"/>
                </a:solidFill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3898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Autonomous</a:t>
            </a:r>
          </a:p>
          <a:p>
            <a:pPr algn="l"/>
            <a:r>
              <a:rPr sz="1300" b="1" i="0">
                <a:solidFill>
                  <a:srgbClr val="27AE60"/>
                </a:solidFill>
              </a:rPr>
              <a:t>Decision-Making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Agents evaluate conditions and choose actions without human prompting. Threshold crossings, anomaly detection, and corrective commands are issued in real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280160"/>
            <a:ext cx="3749039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8"/>
                </a:solidFill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13898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B4E8"/>
                </a:solidFill>
              </a:rPr>
              <a:t>Multi-Step</a:t>
            </a:r>
          </a:p>
          <a:p>
            <a:pPr algn="l"/>
            <a:r>
              <a:rPr sz="1300" b="1" i="0">
                <a:solidFill>
                  <a:srgbClr val="5AB4E8"/>
                </a:solidFill>
              </a:rPr>
              <a:t>Reasoning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92024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Chain-of-thought decomposition breaks complex problems into verifiable sub-steps — tracing a QA failure back through 7 upstream stages, for example.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1280160"/>
            <a:ext cx="3749039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13898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8"/>
                </a:solidFill>
              </a:rP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38988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830"/>
                </a:solidFill>
              </a:rPr>
              <a:t>Dynamic</a:t>
            </a:r>
          </a:p>
          <a:p>
            <a:pPr algn="l"/>
            <a:r>
              <a:rPr sz="1300" b="1" i="0">
                <a:solidFill>
                  <a:srgbClr val="F0A830"/>
                </a:solidFill>
              </a:rPr>
              <a:t>Tool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192024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Agents call APIs, query databases, run code, write files, send notifications — any tool exposed through a function schema becomes an agent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3749039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767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8"/>
                </a:solidFill>
              </a:rPr>
              <a:t>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767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Multi-Agent</a:t>
            </a:r>
          </a:p>
          <a:p>
            <a:pPr algn="l"/>
            <a:r>
              <a:rPr sz="1300" b="1" i="0">
                <a:solidFill>
                  <a:srgbClr val="9B59B6"/>
                </a:solidFill>
              </a:rPr>
              <a:t>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Specialist agents work in parallel or in sequence. A triage agent routes; domain experts analyse; a synthesis agent consolidates — no single bottleneck.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9392" y="3657600"/>
            <a:ext cx="3749039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767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8"/>
                </a:solidFill>
              </a:rPr>
              <a:t>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767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Closed-Loop</a:t>
            </a:r>
          </a:p>
          <a:p>
            <a:pPr algn="l"/>
            <a:r>
              <a:rPr sz="1300" b="1" i="0">
                <a:solidFill>
                  <a:srgbClr val="1ABC9C"/>
                </a:solidFill>
              </a:rPr>
              <a:t>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2976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Agents observe the result of their action, re-evaluate, and iterate. Near-closed-loop control replaces brittle one-shot commands with adaptive correction.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3657600"/>
            <a:ext cx="3749039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75904" y="376732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F0F8"/>
                </a:solidFill>
              </a:rPr>
              <a:t>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78824" y="37673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</a:rPr>
              <a:t>Automated</a:t>
            </a:r>
          </a:p>
          <a:p>
            <a:pPr algn="l"/>
            <a:r>
              <a:rPr sz="1300" b="1" i="0">
                <a:solidFill>
                  <a:srgbClr val="E74C3C"/>
                </a:solidFill>
              </a:rP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75904" y="42976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Full audit trails, structured reports, and natural-language summaries are generated automatically — cutting post-incident documentation from hours to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B59B6"/>
                </a:solidFill>
              </a:rPr>
              <a:t>04 · ENABLING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8F0F8"/>
                </a:solidFill>
              </a:rPr>
              <a:t>The Stack That Makes Agentic Systems 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914400"/>
          </a:xfrm>
          <a:prstGeom prst="rect">
            <a:avLst/>
          </a:prstGeom>
          <a:solidFill>
            <a:srgbClr val="111827"/>
          </a:solidFill>
          <a:ln w="1524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527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B4E8"/>
                </a:solidFill>
              </a:rPr>
              <a:t>LAYER 5 · Orchestration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AB8"/>
                </a:solidFill>
              </a:rPr>
              <a:t>Route between agents, manage tool registries, handle streaming and memory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37160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38988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Semantic Kernel (Microsoft)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50992" y="137160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24144" y="138988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LangChain / LangGraph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87184" y="137160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138988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LlamaIndex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23376" y="137160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138988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AutoGen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9568" y="137160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138988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CrewAI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194560"/>
            <a:ext cx="11430000" cy="914400"/>
          </a:xfrm>
          <a:prstGeom prst="rect">
            <a:avLst/>
          </a:prstGeom>
          <a:solidFill>
            <a:srgbClr val="111827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585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LAYER 4 · Foundation Models (LLMs)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57860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AB8"/>
                </a:solidFill>
              </a:rPr>
              <a:t>Provide chain-of-thought reasoning, tool calling, and natural-language generation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37744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952" y="239572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Claude Sonnet / Opus 4 (Anthropic)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50992" y="237744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24144" y="239572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GPT-4o / o1 (OpenAI)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87184" y="237744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39572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Gemini 1.5 Pro (Google)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23376" y="237744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239572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Llama 3.1 (Meta / Open)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59568" y="237744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239572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Mistral Large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00400"/>
            <a:ext cx="11430000" cy="914400"/>
          </a:xfrm>
          <a:prstGeom prst="rect">
            <a:avLst/>
          </a:prstGeom>
          <a:solidFill>
            <a:srgbClr val="111827"/>
          </a:solidFill>
          <a:ln w="1524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2644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0A830"/>
                </a:solidFill>
              </a:rPr>
              <a:t>LAYER 3 · Memory &amp; Knowledge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584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AB8"/>
                </a:solidFill>
              </a:rPr>
              <a:t>Give agents long-term recall, semantic search, and context beyond the context window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38328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87952" y="340156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Vector DBs: Pinecone, Weaviate, Chroma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50992" y="338328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24144" y="340156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Graph DBs: Neo4j, Amazon Neptune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87184" y="338328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340156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Relational: PostgreSQL + pgvector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3376" y="338328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96528" y="340156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Structured caches: Redis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59568" y="338328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340156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Conversation buffers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206240"/>
            <a:ext cx="11430000" cy="914400"/>
          </a:xfrm>
          <a:prstGeom prst="rect">
            <a:avLst/>
          </a:prstGeom>
          <a:solidFill>
            <a:srgbClr val="111827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27024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</a:rPr>
              <a:t>LAYER 2 · Tool &amp; API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590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AB8"/>
                </a:solidFill>
              </a:rPr>
              <a:t>Every callable function becomes a potential agent action through a typed schema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438912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87952" y="440740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REST / GraphQL APIs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50992" y="438912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24144" y="440740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Code interpreters (Python sandbox)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87184" y="438912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60336" y="440740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File I/O, browser control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23376" y="438912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96528" y="440740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Database connectors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59568" y="438912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332720" y="440740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IoT / SCADA sensor feeds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212080"/>
            <a:ext cx="11430000" cy="914400"/>
          </a:xfrm>
          <a:prstGeom prst="rect">
            <a:avLst/>
          </a:prstGeom>
          <a:solidFill>
            <a:srgbClr val="111827"/>
          </a:solidFill>
          <a:ln w="1524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52760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BC9C"/>
                </a:solidFill>
              </a:rPr>
              <a:t>LAYER 1 · Infrastructure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5961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A9AB8"/>
                </a:solidFill>
              </a:rPr>
              <a:t>Runs, monitors, and scales the agentic workload reliably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0" y="539496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87952" y="541324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Cloud: Azure, AWS, GCP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50992" y="539496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24144" y="541324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On-prem / edge compute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87184" y="539496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60336" y="541324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Containers: Docker / Kubernetes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23376" y="539496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96528" y="541324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CI/CD: GitHub Actions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59568" y="5394960"/>
            <a:ext cx="1463040" cy="530352"/>
          </a:xfrm>
          <a:prstGeom prst="rect">
            <a:avLst/>
          </a:prstGeom>
          <a:solidFill>
            <a:srgbClr val="0F1420"/>
          </a:solidFill>
          <a:ln w="762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32720" y="5413248"/>
            <a:ext cx="1353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F0F8"/>
                </a:solidFill>
              </a:rPr>
              <a:t>Observability: LangSmith, Weights &amp; Biases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BC9C"/>
                </a:solidFill>
              </a:rPr>
              <a:t>05 · HOW TO PLUG IN THIS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F8"/>
                </a:solidFill>
              </a:rPr>
              <a:t>Four Integration Patterns — Choose What Fits Your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788920" cy="3108960"/>
          </a:xfrm>
          <a:prstGeom prst="rect">
            <a:avLst/>
          </a:prstGeom>
          <a:solidFill>
            <a:srgbClr val="111827"/>
          </a:solidFill>
          <a:ln w="2540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788920" cy="292608"/>
          </a:xfrm>
          <a:prstGeom prst="rect">
            <a:avLst/>
          </a:prstGeom>
          <a:solidFill>
            <a:srgbClr val="5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52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0D14"/>
                </a:solidFill>
              </a:rPr>
              <a:t>Pattern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B4E8"/>
                </a:solidFill>
              </a:rPr>
              <a:t>API-First Drop-In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Your existing system exposes a REST endpoint.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The agentic layer subscribes to events or polls.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Zero changes to downstream services.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→ Best for: brownfield systems with stable APIs.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234440"/>
            <a:ext cx="2788920" cy="3108960"/>
          </a:xfrm>
          <a:prstGeom prst="rect">
            <a:avLst/>
          </a:prstGeom>
          <a:solidFill>
            <a:srgbClr val="11182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234440"/>
            <a:ext cx="2788920" cy="2926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252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0D14"/>
                </a:solidFill>
              </a:rPr>
              <a:t>Pattern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Event-Driven Sidecar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An agent container runs alongside your app.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Listens to message queue (Kafka / Event Hub).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Fires when threshold events arrive.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→ Best for: real-time IoT / sensor pipelines.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234440"/>
            <a:ext cx="2788920" cy="3108960"/>
          </a:xfrm>
          <a:prstGeom prst="rect">
            <a:avLst/>
          </a:prstGeom>
          <a:solidFill>
            <a:srgbClr val="111827"/>
          </a:solidFill>
          <a:ln w="2540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54496" y="1234440"/>
            <a:ext cx="2788920" cy="292608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1252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0D14"/>
                </a:solidFill>
              </a:rPr>
              <a:t>Pattern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A830"/>
                </a:solidFill>
              </a:rPr>
              <a:t>Embedded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Import Semantic Kernel directly into your service.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Agents live in the same process as business logic.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Low latency; shared memory.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→ Best for: greenfield apps or Python backends.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234440"/>
            <a:ext cx="2788920" cy="3108960"/>
          </a:xfrm>
          <a:prstGeom prst="rect">
            <a:avLst/>
          </a:prstGeom>
          <a:solidFill>
            <a:srgbClr val="111827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8864" y="1234440"/>
            <a:ext cx="2788920" cy="29260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25272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0D14"/>
                </a:solidFill>
              </a:rPr>
              <a:t>Pattern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15727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Human-in-the-Loop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965960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</a:rPr>
              <a:t>Agent recommends; human approves via UI / Slack.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Approval unlocks the next automated step.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Full audit trail of every decision gate.</a:t>
            </a:r>
          </a:p>
          <a:p>
            <a:pPr algn="l"/>
            <a:r>
              <a:rPr sz="1000" b="0" i="0">
                <a:solidFill>
                  <a:srgbClr val="E8F0F8"/>
                </a:solidFill>
              </a:rPr>
              <a:t>→ Best for: regulated industries (finance, medical).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80560"/>
            <a:ext cx="11430000" cy="12700"/>
          </a:xfrm>
          <a:prstGeom prst="rect">
            <a:avLst/>
          </a:prstGeom>
          <a:solidFill>
            <a:srgbClr val="1E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537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DATA FLOW IN ALL PATTERNS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846320"/>
            <a:ext cx="1691640" cy="777240"/>
          </a:xfrm>
          <a:prstGeom prst="rect">
            <a:avLst/>
          </a:prstGeom>
          <a:solidFill>
            <a:srgbClr val="0F1420"/>
          </a:solidFill>
          <a:ln w="190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9204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AB4E8"/>
                </a:solidFill>
              </a:rPr>
              <a:t>Data</a:t>
            </a:r>
          </a:p>
          <a:p>
            <a:pPr algn="ctr"/>
            <a:r>
              <a:rPr sz="1000" b="1" i="0">
                <a:solidFill>
                  <a:srgbClr val="5AB4E8"/>
                </a:solidFill>
              </a:rPr>
              <a:t>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029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846320"/>
            <a:ext cx="1691640" cy="777240"/>
          </a:xfrm>
          <a:prstGeom prst="rect">
            <a:avLst/>
          </a:prstGeom>
          <a:solidFill>
            <a:srgbClr val="0F142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489204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7AE60"/>
                </a:solidFill>
              </a:rPr>
              <a:t>Triage</a:t>
            </a:r>
          </a:p>
          <a:p>
            <a:pPr algn="ctr"/>
            <a:r>
              <a:rPr sz="1000" b="1" i="0">
                <a:solidFill>
                  <a:srgbClr val="27AE60"/>
                </a:solidFill>
              </a:rPr>
              <a:t>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40" y="5029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846320"/>
            <a:ext cx="1691640" cy="777240"/>
          </a:xfrm>
          <a:prstGeom prst="rect">
            <a:avLst/>
          </a:prstGeom>
          <a:solidFill>
            <a:srgbClr val="0F1420"/>
          </a:solidFill>
          <a:ln w="1905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489204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0A830"/>
                </a:solidFill>
              </a:rPr>
              <a:t>Expert</a:t>
            </a:r>
          </a:p>
          <a:p>
            <a:pPr algn="ctr"/>
            <a:r>
              <a:rPr sz="1000" b="1" i="0">
                <a:solidFill>
                  <a:srgbClr val="F0A830"/>
                </a:solidFill>
              </a:rPr>
              <a:t>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5029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846320"/>
            <a:ext cx="1691640" cy="777240"/>
          </a:xfrm>
          <a:prstGeom prst="rect">
            <a:avLst/>
          </a:prstGeom>
          <a:solidFill>
            <a:srgbClr val="0F142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489204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B6"/>
                </a:solidFill>
              </a:rPr>
              <a:t>Tool</a:t>
            </a:r>
          </a:p>
          <a:p>
            <a:pPr algn="ctr"/>
            <a:r>
              <a:rPr sz="1000" b="1" i="0">
                <a:solidFill>
                  <a:srgbClr val="9B59B6"/>
                </a:solidFill>
              </a:rPr>
              <a:t>Calls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5029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846320"/>
            <a:ext cx="1691640" cy="777240"/>
          </a:xfrm>
          <a:prstGeom prst="rect">
            <a:avLst/>
          </a:prstGeom>
          <a:solidFill>
            <a:srgbClr val="0F1420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89204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BC9C"/>
                </a:solidFill>
              </a:rPr>
              <a:t>Output /</a:t>
            </a:r>
          </a:p>
          <a:p>
            <a:pPr algn="ctr"/>
            <a:r>
              <a:rPr sz="1000" b="1" i="0">
                <a:solidFill>
                  <a:srgbClr val="1ABC9C"/>
                </a:solidFill>
              </a:rPr>
              <a:t>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50292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A9C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66960" y="4846320"/>
            <a:ext cx="1691640" cy="777240"/>
          </a:xfrm>
          <a:prstGeom prst="rect">
            <a:avLst/>
          </a:prstGeom>
          <a:solidFill>
            <a:srgbClr val="0F142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4892040"/>
            <a:ext cx="1508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</a:rPr>
              <a:t>Feedback</a:t>
            </a:r>
          </a:p>
          <a:p>
            <a:pPr algn="ctr"/>
            <a:r>
              <a:rPr sz="1000" b="1" i="0">
                <a:solidFill>
                  <a:srgbClr val="E74C3C"/>
                </a:solidFill>
              </a:rPr>
              <a:t>Loop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760720"/>
            <a:ext cx="11430000" cy="777240"/>
          </a:xfrm>
          <a:prstGeom prst="rect">
            <a:avLst/>
          </a:prstGeom>
          <a:solidFill>
            <a:srgbClr val="0F2A18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833872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Security note: </a:t>
            </a:r>
            <a:r>
              <a:rPr sz="1000" b="0" i="0">
                <a:solidFill>
                  <a:srgbClr val="E8F0F8"/>
                </a:solidFill>
              </a:rPr>
              <a:t>All agent tool calls should be wrapped in permission scopes. Use short-lived credentials, log every action, and gate high-impact actions (write, delete, send) behind explicit human approval.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0A830"/>
                </a:solidFill>
              </a:rPr>
              <a:t>06 · USE CASE — SEMANTIC KERNEL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F0F8"/>
                </a:solidFill>
              </a:rPr>
              <a:t>Near-Closed-Loop PV Manufacturing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A9AB8"/>
                </a:solidFill>
              </a:rPr>
              <a:t>A real system built with Claude Sonnet 4.6 + Semantic Kernel to detect &amp; diagnose faults across 7 solar panel production stages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HOW SEMANTIC KERNEL WIRES IT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5394960" cy="914400"/>
          </a:xfrm>
          <a:prstGeom prst="rect">
            <a:avLst/>
          </a:prstGeom>
          <a:solidFill>
            <a:srgbClr val="0F1420"/>
          </a:solidFill>
          <a:ln w="190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013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B4E8"/>
                </a:solidFill>
              </a:rPr>
              <a:t>●  1. Kernel + Connector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</a:rPr>
              <a:t>AnthropicChatCompletion registered as the AI service.</a:t>
            </a:r>
          </a:p>
          <a:p>
            <a:pPr algn="l"/>
            <a:r>
              <a:rPr sz="950" b="0" i="0">
                <a:solidFill>
                  <a:srgbClr val="E8F0F8"/>
                </a:solidFill>
              </a:rPr>
              <a:t>Model ID and API key loaded from .env — swap the model in one 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394960" cy="914400"/>
          </a:xfrm>
          <a:prstGeom prst="rect">
            <a:avLst/>
          </a:prstGeom>
          <a:solidFill>
            <a:srgbClr val="0F1420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8072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●  2. Plugin Registration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08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</a:rPr>
              <a:t>12 Expert plugins (one per control loop) registered on the Kernel.</a:t>
            </a:r>
          </a:p>
          <a:p>
            <a:pPr algn="l"/>
            <a:r>
              <a:rPr sz="950" b="0" i="0">
                <a:solidFill>
                  <a:srgbClr val="E8F0F8"/>
                </a:solidFill>
              </a:rPr>
              <a:t>Each @kernel_function becomes a callable tool for Claude.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40"/>
            <a:ext cx="5394960" cy="914400"/>
          </a:xfrm>
          <a:prstGeom prst="rect">
            <a:avLst/>
          </a:prstGeom>
          <a:solidFill>
            <a:srgbClr val="0F1420"/>
          </a:solidFill>
          <a:ln w="1905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130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A830"/>
                </a:solidFill>
              </a:rPr>
              <a:t>●  3. ChatCompletionAgent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</a:rPr>
              <a:t>Triage Agent created with all 12 plugins in scope.</a:t>
            </a:r>
          </a:p>
          <a:p>
            <a:pPr algn="l"/>
            <a:r>
              <a:rPr sz="950" b="0" i="0">
                <a:solidFill>
                  <a:srgbClr val="E8F0F8"/>
                </a:solidFill>
              </a:rPr>
              <a:t>System prompt instructs it to read a sensor snapshot and route.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5394960" cy="914400"/>
          </a:xfrm>
          <a:prstGeom prst="rect">
            <a:avLst/>
          </a:prstGeom>
          <a:solidFill>
            <a:srgbClr val="0F142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818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B6"/>
                </a:solidFill>
              </a:rPr>
              <a:t>●  4. Streaming Invocation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</a:rPr>
              <a:t>agent.invoke_stream(snapshot) yields content chunks.</a:t>
            </a:r>
          </a:p>
          <a:p>
            <a:pPr algn="l"/>
            <a:r>
              <a:rPr sz="950" b="0" i="0">
                <a:solidFill>
                  <a:srgbClr val="E8F0F8"/>
                </a:solidFill>
              </a:rPr>
              <a:t>Streamlit's write_stream() renders the live reasoning in the UI.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417320"/>
            <a:ext cx="5806440" cy="4114800"/>
          </a:xfrm>
          <a:prstGeom prst="rect">
            <a:avLst/>
          </a:prstGeom>
          <a:solidFill>
            <a:srgbClr val="060810"/>
          </a:solidFill>
          <a:ln w="9525">
            <a:solidFill>
              <a:srgbClr val="1E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4630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kernel_setup.py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8308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D490"/>
                </a:solidFill>
              </a:rPr>
              <a:t>from semantic_kernel import Kernel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from semantic_kernel.connectors.ai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.anthropic import AnthropicChatCompletion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def build_kernel() -&gt; Kernel: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kernel = Kernel()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kernel.add_service(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AnthropicChatCompletion(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    ai_model_id=os.getenv(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        "MODEL_ID",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        "claude-sonnet-4-6"),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    api_key=os.getenv(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        "ANTHROPIC_API_KEY")))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return kernel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/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# Expert plugin (one of 12)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class GrainOptimizationPlugin: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@kernel_function(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name="analyze_grain",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description="Grain growth loop")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def analyze(self, snapshot: str) -&gt; str: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# Claude reasons over metrics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# 17→18→20→17 control loop</a:t>
            </a:r>
          </a:p>
          <a:p>
            <a:pPr algn="l"/>
            <a:r>
              <a:rPr sz="800" b="0" i="0">
                <a:solidFill>
                  <a:srgbClr val="90D490"/>
                </a:solidFill>
              </a:rPr>
              <a:t>       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77840"/>
            <a:ext cx="2788920" cy="1005840"/>
          </a:xfrm>
          <a:prstGeom prst="rect">
            <a:avLst/>
          </a:prstGeom>
          <a:solidFill>
            <a:srgbClr val="111827"/>
          </a:solidFill>
          <a:ln w="1524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6235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B4E8"/>
                </a:solidFill>
              </a:rPr>
              <a:t>50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989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monitored across</a:t>
            </a:r>
          </a:p>
          <a:p>
            <a:pPr algn="l"/>
            <a:r>
              <a:rPr sz="900" b="0" i="0">
                <a:solidFill>
                  <a:srgbClr val="7A9AB8"/>
                </a:solidFill>
              </a:rPr>
              <a:t>7 production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1568" y="5577840"/>
            <a:ext cx="2788920" cy="1005840"/>
          </a:xfrm>
          <a:prstGeom prst="rect">
            <a:avLst/>
          </a:prstGeom>
          <a:solidFill>
            <a:srgbClr val="111827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56235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&lt; 3 seconds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8" y="5989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from fault trigger to</a:t>
            </a:r>
          </a:p>
          <a:p>
            <a:pPr algn="l"/>
            <a:r>
              <a:rPr sz="900" b="0" i="0">
                <a:solidFill>
                  <a:srgbClr val="7A9AB8"/>
                </a:solidFill>
              </a:rPr>
              <a:t>root cause diagnosis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45936" y="5577840"/>
            <a:ext cx="2788920" cy="1005840"/>
          </a:xfrm>
          <a:prstGeom prst="rect">
            <a:avLst/>
          </a:prstGeom>
          <a:solidFill>
            <a:srgbClr val="111827"/>
          </a:solidFill>
          <a:ln w="1524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56235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A830"/>
                </a:solidFill>
              </a:rPr>
              <a:t>12 experts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5989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specialist agents,</a:t>
            </a:r>
          </a:p>
          <a:p>
            <a:pPr algn="l"/>
            <a:r>
              <a:rPr sz="900" b="0" i="0">
                <a:solidFill>
                  <a:srgbClr val="7A9AB8"/>
                </a:solidFill>
              </a:rPr>
              <a:t>one per control loop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90304" y="5577840"/>
            <a:ext cx="2788920" cy="1005840"/>
          </a:xfrm>
          <a:prstGeom prst="rect">
            <a:avLst/>
          </a:prstGeom>
          <a:solidFill>
            <a:srgbClr val="111827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562356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B59B6"/>
                </a:solidFill>
              </a:rPr>
              <a:t>Auto .docx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5989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9AB8"/>
                </a:solidFill>
              </a:rPr>
              <a:t>full report generated</a:t>
            </a:r>
          </a:p>
          <a:p>
            <a:pPr algn="l"/>
            <a:r>
              <a:rPr sz="900" b="0" i="0">
                <a:solidFill>
                  <a:srgbClr val="7A9AB8"/>
                </a:solidFill>
              </a:rPr>
              <a:t>without human writing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AB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A6A9C"/>
                </a:solidFill>
              </a:rP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F0F8"/>
                </a:solidFill>
              </a:rPr>
              <a:t>Agentic Systems are Production-Ready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71500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44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AB4E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B4E8"/>
                </a:solidFill>
              </a:rPr>
              <a:t>Agentic AI = Perceive + Reason + Act + 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916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It's not a chatbot — it's a goal-directed system that uses tools, maintains context, and adapts.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71500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44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3258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Decades of evolution, now converging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916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Rule engines, ML, and LLMs are all layers inside a modern orchestration framework.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97480"/>
            <a:ext cx="571500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07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830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88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830"/>
                </a:solidFill>
              </a:rPr>
              <a:t>Enables automation beyond rigid scripts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1546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Multi-step reasoning, cross-domain specialist routing, and closed-loop correction are now achievable.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697480"/>
            <a:ext cx="571500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807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7889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</a:rPr>
              <a:t>The stack is mature and 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1546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Semantic Kernel, LangGraph, and AutoGen all expose production-grade orchestration for any LLM.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60520"/>
            <a:ext cx="571500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70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51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C9C"/>
                </a:solidFill>
              </a:rPr>
              <a:t>Integration is pattern-driven, not disruptive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17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API-first, event-driven, embedded SDK, or human-in-the-loop — pick the pattern that fits.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160520"/>
            <a:ext cx="571500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70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2519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</a:rPr>
              <a:t>Semantic Kernel proved it in PV manufacturing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617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8"/>
                </a:solidFill>
              </a:rPr>
              <a:t>50 sensors · 12 expert agents · &lt; 3-second diagnosis · auto-generated fault report.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989320"/>
            <a:ext cx="11430000" cy="594360"/>
          </a:xfrm>
          <a:prstGeom prst="rect">
            <a:avLst/>
          </a:prstGeom>
          <a:solidFill>
            <a:srgbClr val="1E3A5A"/>
          </a:solidFill>
          <a:ln w="12700">
            <a:solidFill>
              <a:srgbClr val="5AB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AB4E8"/>
                </a:solidFill>
              </a:rPr>
              <a:t>Questions?  </a:t>
            </a:r>
            <a:r>
              <a:rPr sz="1100" b="0" i="0">
                <a:solidFill>
                  <a:srgbClr val="7A9AB8"/>
                </a:solidFill>
              </a:rPr>
              <a:t>Semantic Kernel docs: </a:t>
            </a:r>
            <a:r>
              <a:rPr sz="1100" b="0" i="0">
                <a:solidFill>
                  <a:srgbClr val="E8F0F8"/>
                </a:solidFill>
              </a:rPr>
              <a:t>learn.microsoft.com/semantic-kernel    </a:t>
            </a:r>
            <a:r>
              <a:rPr sz="1100" b="0" i="0">
                <a:solidFill>
                  <a:srgbClr val="7A9AB8"/>
                </a:solidFill>
              </a:rPr>
              <a:t>Claude API: </a:t>
            </a:r>
            <a:r>
              <a:rPr sz="1100" b="0" i="0">
                <a:solidFill>
                  <a:srgbClr val="E8F0F8"/>
                </a:solidFill>
              </a:rPr>
              <a:t>docs.anthropic.com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